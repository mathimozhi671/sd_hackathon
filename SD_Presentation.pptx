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fde5bb1-4162-267a-97e0-d1b2c31a4e5f}">
          <p14:sldIdLst>
            <p14:sldId id="256"/>
          </p14:sldIdLst>
        </p14:section>
        <p14:section name="Requirements" id="{eef63716-bf63-4335-cf7e-80c5dcce1990}">
          <p14:sldIdLst>
            <p14:sldId id="257"/>
          </p14:sldIdLst>
        </p14:section>
        <p14:section name="Architecture" id="{7072f8cd-ec05-dcdd-c710-7f935e5d4583}">
          <p14:sldIdLst>
            <p14:sldId id="258"/>
          </p14:sldIdLst>
        </p14:section>
        <p14:section name="Concurrency" id="{fbeab78c-1adf-6471-1935-8b1729829713}">
          <p14:sldIdLst>
            <p14:sldId id="259"/>
          </p14:sldIdLst>
        </p14:section>
        <p14:section name="Payment and Order" id="{49dc0029-32dd-6f4b-2a68-bac63c741ab7}">
          <p14:sldIdLst>
            <p14:sldId id="260"/>
          </p14:sldIdLst>
        </p14:section>
        <p14:section name="Wrap-up" id="{ea54d4e9-19b3-5ddc-de04-d5cf4b8a6c4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(about 10 seconds). Design-first blueprint for a flash sale: 10,000 customers competing for 100 units without overselling.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60 seconds. Problem: flash sale, limited stock, failures in payment and downstream services. Strict guarantees: never sell more than 100, no duplicate payments or orders. Targets: latency and availability numbers are assumptions we chose. Reservation TTL of 5 minutes is also an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60 seconds. Edge layer absorbs the surge: CDN serves static content, WAF blocks bots, load balancer spreads traffic, gateway authenticates and rate-limits. Services are stateless and autoscaled. The Reservation service is the only owner of stock. Redis is the fast gate; the SQL database is the source of truth. Kafka decouples order, shipping and notifications. The payment gateway is external, so it is protected with timeouts and a circuit breaker. Likely bottleneck: the single hot inventory key, handled by Redis atomic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60 seconds. Walk the 10,000 requests: rate limit and idempotency key at the gateway, then Redis runs one atomic Lua script (if stock &gt; 0 then decrement). Only 100 succeed; the rest are rejected immediately. Winners write a reservation row using UPDATE ... SET available = available - 1 WHERE available &gt; 0, so even a Redis fault cannot oversell. Compare pessimistic locking (single-row bottleneck) and optimistic versioning (retry storm). If Redis fails, fall back to the DB conditional update, which is slower but still correct. Last item: two requests hit simultaneously, Redis serialises them, one wins, one gets out-of-stock.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Show one successful purchase end to end, then one failed payment releasing the reservation. Duplicate Buy click: the idempotency key returns the first result, no second reservation or charge. Paid but Order Service down for 30 seconds: PaymentSucceeded is stored with an outbox record, Kafka redelivers, the order consumer is idempotent, a reconciliation job compares payments to orders, and a refund is the last resort.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75 seconds. LLD: Inventory, Payment and Order modules behind interfaces (PaymentProvider, PricingStrategy), so a new provider is a new class with no change to core logic (OCP/DIP). 50x traffic: the edge and waiting room absorb it, only winners touch the DB. Trade-offs: we accept extra complexity (Redis plus DB) and eventual consistency for non-critical flows to protect strict consistency on inventory and payment. AI note: Claude/ChatGPT used only for simulation script and diagram drafts after the design was done; the team reviewed and tested everything. Edit the AI tool name to match what you actually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43032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43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SALESTORM: High-Scale E-Commerce Flash Sale System Design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Requirements</a:t>
            </a:r>
            <a:endParaRPr lang="en-US" sz="3200" dirty="0"/>
          </a:p>
        </p:txBody>
      </p:sp>
      <p:sp>
        <p:nvSpPr>
          <p:cNvPr id="3" name="Stat 1"/>
          <p:cNvSpPr txBox="1"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10,000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simultaneous buyers</a:t>
            </a:r>
            <a:endParaRPr lang="en-US" sz="3200" dirty="0"/>
          </a:p>
        </p:txBody>
      </p:sp>
      <p:sp>
        <p:nvSpPr>
          <p:cNvPr id="4" name="Stat 2"/>
          <p:cNvSpPr txBox="1"/>
          <p:nvPr/>
        </p:nvSpPr>
        <p:spPr>
          <a:xfrm>
            <a:off x="3392424" y="1371600"/>
            <a:ext cx="2560320" cy="10972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100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in stock</a:t>
            </a:r>
            <a:endParaRPr lang="en-US" sz="3200" dirty="0"/>
          </a:p>
        </p:txBody>
      </p:sp>
      <p:sp>
        <p:nvSpPr>
          <p:cNvPr id="5" name="Stat 3"/>
          <p:cNvSpPr txBox="1"/>
          <p:nvPr/>
        </p:nvSpPr>
        <p:spPr>
          <a:xfrm>
            <a:off x="6236208" y="1371600"/>
            <a:ext cx="2560320" cy="10972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500K/s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peak requests (flash sale)</a:t>
            </a:r>
            <a:endParaRPr lang="en-US" sz="3200" dirty="0"/>
          </a:p>
        </p:txBody>
      </p:sp>
      <p:sp>
        <p:nvSpPr>
          <p:cNvPr id="6" name="Stat 4"/>
          <p:cNvSpPr txBox="1"/>
          <p:nvPr/>
        </p:nvSpPr>
        <p:spPr>
          <a:xfrm>
            <a:off x="9079992" y="1371600"/>
            <a:ext cx="2560320" cy="10972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oversold units, ever</a:t>
            </a:r>
            <a:endParaRPr lang="en-US" sz="3200" dirty="0"/>
          </a:p>
        </p:txBody>
      </p:sp>
      <p:sp>
        <p:nvSpPr>
          <p:cNvPr id="7" name="Business question"/>
          <p:cNvSpPr txBox="1"/>
          <p:nvPr/>
        </p:nvSpPr>
        <p:spPr>
          <a:xfrm>
            <a:off x="548640" y="2697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Business question: how do we handle thousands of simultaneous purchase requests for limited stock without overselling, while keeping payment and orders reliable?</a:t>
            </a:r>
            <a:endParaRPr lang="en-US" sz="1600" dirty="0"/>
          </a:p>
        </p:txBody>
      </p:sp>
      <p:sp>
        <p:nvSpPr>
          <p:cNvPr id="8" name="Functional requirements"/>
          <p:cNvSpPr txBox="1"/>
          <p:nvPr/>
        </p:nvSpPr>
        <p:spPr>
          <a:xfrm>
            <a:off x="548640" y="352044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Functional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Browse sale, add to cart, press Buy Now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Reserve stock temporarily, with expiry and release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Pay once, create order, ship, notify, track delivery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Release stock when payment fails or times out</a:t>
            </a:r>
            <a:endParaRPr lang="en-US" sz="1500" dirty="0"/>
          </a:p>
        </p:txBody>
      </p:sp>
      <p:sp>
        <p:nvSpPr>
          <p:cNvPr id="9" name="Non-functional requirements"/>
          <p:cNvSpPr txBox="1"/>
          <p:nvPr/>
        </p:nvSpPr>
        <p:spPr>
          <a:xfrm>
            <a:off x="6245352" y="352044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Non-functional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Strict: sold ≤ 100, no duplicate payment or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Target: Buy Now response p95 &lt; 300 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Target: 99.95% availability, scale horizontally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No paid order is ever lost; HTTPS, auth, rate limits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High-Level Architecture</a:t>
            </a:r>
            <a:endParaRPr lang="en-US" sz="3200" dirty="0"/>
          </a:p>
        </p:txBody>
      </p:sp>
      <p:sp>
        <p:nvSpPr>
          <p:cNvPr id="3" name="Edge Users"/>
          <p:cNvSpPr txBox="1"/>
          <p:nvPr/>
        </p:nvSpPr>
        <p:spPr>
          <a:xfrm>
            <a:off x="548640" y="1371600"/>
            <a:ext cx="210312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+ mobile</a:t>
            </a:r>
            <a:endParaRPr lang="en-US" sz="1400" dirty="0"/>
          </a:p>
        </p:txBody>
      </p:sp>
      <p:sp>
        <p:nvSpPr>
          <p:cNvPr id="4" name="Edge arrow 1"/>
          <p:cNvSpPr/>
          <p:nvPr/>
        </p:nvSpPr>
        <p:spPr>
          <a:xfrm>
            <a:off x="2651760" y="1760220"/>
            <a:ext cx="89306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Edge CDN + WAF"/>
          <p:cNvSpPr txBox="1"/>
          <p:nvPr/>
        </p:nvSpPr>
        <p:spPr>
          <a:xfrm>
            <a:off x="3544824" y="1371600"/>
            <a:ext cx="210312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CDN + WAF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cache static, block bots</a:t>
            </a:r>
            <a:endParaRPr lang="en-US" sz="1400" dirty="0"/>
          </a:p>
        </p:txBody>
      </p:sp>
      <p:sp>
        <p:nvSpPr>
          <p:cNvPr id="6" name="Edge arrow 2"/>
          <p:cNvSpPr/>
          <p:nvPr/>
        </p:nvSpPr>
        <p:spPr>
          <a:xfrm>
            <a:off x="5647944" y="1760220"/>
            <a:ext cx="89306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Edge Load Balancer"/>
          <p:cNvSpPr txBox="1"/>
          <p:nvPr/>
        </p:nvSpPr>
        <p:spPr>
          <a:xfrm>
            <a:off x="6541008" y="1371600"/>
            <a:ext cx="210312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Balancer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spread traffic</a:t>
            </a:r>
            <a:endParaRPr lang="en-US" sz="1400" dirty="0"/>
          </a:p>
        </p:txBody>
      </p:sp>
      <p:sp>
        <p:nvSpPr>
          <p:cNvPr id="8" name="Edge arrow 3"/>
          <p:cNvSpPr/>
          <p:nvPr/>
        </p:nvSpPr>
        <p:spPr>
          <a:xfrm>
            <a:off x="8644128" y="1760220"/>
            <a:ext cx="89306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Edge API Gateway"/>
          <p:cNvSpPr txBox="1"/>
          <p:nvPr/>
        </p:nvSpPr>
        <p:spPr>
          <a:xfrm>
            <a:off x="9537192" y="1371600"/>
            <a:ext cx="210312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 + rate limit</a:t>
            </a:r>
            <a:endParaRPr lang="en-US" sz="1400" dirty="0"/>
          </a:p>
        </p:txBody>
      </p:sp>
      <p:sp>
        <p:nvSpPr>
          <p:cNvPr id="10" name="Bus down"/>
          <p:cNvSpPr/>
          <p:nvPr/>
        </p:nvSpPr>
        <p:spPr>
          <a:xfrm>
            <a:off x="10588752" y="214884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1" name="Bus across"/>
          <p:cNvSpPr/>
          <p:nvPr/>
        </p:nvSpPr>
        <p:spPr>
          <a:xfrm>
            <a:off x="1737360" y="2423160"/>
            <a:ext cx="88513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Bus drop 1"/>
          <p:cNvSpPr/>
          <p:nvPr/>
        </p:nvSpPr>
        <p:spPr>
          <a:xfrm>
            <a:off x="1737360" y="242316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Bus drop 2"/>
          <p:cNvSpPr/>
          <p:nvPr/>
        </p:nvSpPr>
        <p:spPr>
          <a:xfrm>
            <a:off x="4687824" y="242316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Bus drop 3"/>
          <p:cNvSpPr/>
          <p:nvPr/>
        </p:nvSpPr>
        <p:spPr>
          <a:xfrm>
            <a:off x="7638288" y="242316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Bus drop 4"/>
          <p:cNvSpPr/>
          <p:nvPr/>
        </p:nvSpPr>
        <p:spPr>
          <a:xfrm>
            <a:off x="10588752" y="242316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ervice Product / Cart / Sale"/>
          <p:cNvSpPr txBox="1"/>
          <p:nvPr/>
        </p:nvSpPr>
        <p:spPr>
          <a:xfrm>
            <a:off x="548640" y="2743200"/>
            <a:ext cx="237744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/ Cart / Sale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read-heavy, cached</a:t>
            </a:r>
            <a:endParaRPr lang="en-US" sz="1400" dirty="0"/>
          </a:p>
        </p:txBody>
      </p:sp>
      <p:sp>
        <p:nvSpPr>
          <p:cNvPr id="17" name="Service Reservation"/>
          <p:cNvSpPr txBox="1"/>
          <p:nvPr/>
        </p:nvSpPr>
        <p:spPr>
          <a:xfrm>
            <a:off x="3499104" y="2743200"/>
            <a:ext cx="2377440" cy="1143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Reservation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owns stock, expiry, release</a:t>
            </a:r>
            <a:endParaRPr lang="en-US" sz="1400" dirty="0"/>
          </a:p>
        </p:txBody>
      </p:sp>
      <p:sp>
        <p:nvSpPr>
          <p:cNvPr id="18" name="Service Checkout + Payment"/>
          <p:cNvSpPr txBox="1"/>
          <p:nvPr/>
        </p:nvSpPr>
        <p:spPr>
          <a:xfrm>
            <a:off x="6449568" y="2743200"/>
            <a:ext cx="237744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Checkout + Payment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idempotent, circuit breaker</a:t>
            </a:r>
            <a:endParaRPr lang="en-US" sz="1400" dirty="0"/>
          </a:p>
        </p:txBody>
      </p:sp>
      <p:sp>
        <p:nvSpPr>
          <p:cNvPr id="19" name="Service Order + Fulfilment"/>
          <p:cNvSpPr txBox="1"/>
          <p:nvPr/>
        </p:nvSpPr>
        <p:spPr>
          <a:xfrm>
            <a:off x="9400032" y="2743200"/>
            <a:ext cx="237744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 + Fulfilment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orders, shipping, alerts</a:t>
            </a:r>
            <a:endParaRPr lang="en-US" sz="1400" dirty="0"/>
          </a:p>
        </p:txBody>
      </p:sp>
      <p:sp>
        <p:nvSpPr>
          <p:cNvPr id="20" name="Infra label"/>
          <p:cNvSpPr txBox="1"/>
          <p:nvPr/>
        </p:nvSpPr>
        <p:spPr>
          <a:xfrm>
            <a:off x="54864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and infrastructure</a:t>
            </a:r>
            <a:endParaRPr lang="en-US" sz="1600" dirty="0"/>
          </a:p>
        </p:txBody>
      </p:sp>
      <p:sp>
        <p:nvSpPr>
          <p:cNvPr id="21" name="Infra Redis cluster"/>
          <p:cNvSpPr txBox="1"/>
          <p:nvPr/>
        </p:nvSpPr>
        <p:spPr>
          <a:xfrm>
            <a:off x="548640" y="4526280"/>
            <a:ext cx="23774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Redis cluster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stock gate, idempotency keys, cache</a:t>
            </a:r>
            <a:endParaRPr lang="en-US" sz="1400" dirty="0"/>
          </a:p>
        </p:txBody>
      </p:sp>
      <p:sp>
        <p:nvSpPr>
          <p:cNvPr id="22" name="Infra SQL database"/>
          <p:cNvSpPr txBox="1"/>
          <p:nvPr/>
        </p:nvSpPr>
        <p:spPr>
          <a:xfrm>
            <a:off x="3499104" y="4526280"/>
            <a:ext cx="23774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 of truth, sharded + replicas</a:t>
            </a:r>
            <a:endParaRPr lang="en-US" sz="1400" dirty="0"/>
          </a:p>
        </p:txBody>
      </p:sp>
      <p:sp>
        <p:nvSpPr>
          <p:cNvPr id="23" name="Infra Kafka queue"/>
          <p:cNvSpPr txBox="1"/>
          <p:nvPr/>
        </p:nvSpPr>
        <p:spPr>
          <a:xfrm>
            <a:off x="6449568" y="4526280"/>
            <a:ext cx="23774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Kafka queue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events, retries, dead-letter queue</a:t>
            </a:r>
            <a:endParaRPr lang="en-US" sz="1400" dirty="0"/>
          </a:p>
        </p:txBody>
      </p:sp>
      <p:sp>
        <p:nvSpPr>
          <p:cNvPr id="24" name="Infra Payment gateway"/>
          <p:cNvSpPr txBox="1"/>
          <p:nvPr/>
        </p:nvSpPr>
        <p:spPr>
          <a:xfrm>
            <a:off x="9400032" y="4526280"/>
            <a:ext cx="23774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external, tokenised cards</a:t>
            </a:r>
            <a:endParaRPr lang="en-US" sz="1400" dirty="0"/>
          </a:p>
        </p:txBody>
      </p:sp>
      <p:sp>
        <p:nvSpPr>
          <p:cNvPr id="25" name="Sync vs async"/>
          <p:cNvSpPr txBox="1"/>
          <p:nvPr/>
        </p:nvSpPr>
        <p:spPr>
          <a:xfrm>
            <a:off x="548640" y="5760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Synchronous: reserve and pay (customer is waiting). Asynchronous: order, shipment and notification through Kafka with retries.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10,000 Customers, 100 Units: Inventory Reservation</a:t>
            </a:r>
            <a:endParaRPr lang="en-US" sz="3200" dirty="0"/>
          </a:p>
        </p:txBody>
      </p:sp>
      <p:sp>
        <p:nvSpPr>
          <p:cNvPr id="3" name="Funnel 1"/>
          <p:cNvSpPr txBox="1"/>
          <p:nvPr/>
        </p:nvSpPr>
        <p:spPr>
          <a:xfrm>
            <a:off x="548640" y="1371600"/>
            <a:ext cx="4206240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10,000 Buy Now requests</a:t>
            </a:r>
            <a:endParaRPr lang="en-US" sz="1400" dirty="0"/>
          </a:p>
        </p:txBody>
      </p:sp>
      <p:sp>
        <p:nvSpPr>
          <p:cNvPr id="4" name="Funnel arrow 1"/>
          <p:cNvSpPr/>
          <p:nvPr/>
        </p:nvSpPr>
        <p:spPr>
          <a:xfrm>
            <a:off x="2651760" y="20574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Funnel 2"/>
          <p:cNvSpPr txBox="1"/>
          <p:nvPr/>
        </p:nvSpPr>
        <p:spPr>
          <a:xfrm>
            <a:off x="731520" y="2286000"/>
            <a:ext cx="3840480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 limit + idempotency key check</a:t>
            </a:r>
            <a:endParaRPr lang="en-US" sz="1400" dirty="0"/>
          </a:p>
        </p:txBody>
      </p:sp>
      <p:sp>
        <p:nvSpPr>
          <p:cNvPr id="6" name="Funnel arrow 2"/>
          <p:cNvSpPr/>
          <p:nvPr/>
        </p:nvSpPr>
        <p:spPr>
          <a:xfrm>
            <a:off x="2651760" y="29718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Funnel 3"/>
          <p:cNvSpPr txBox="1"/>
          <p:nvPr/>
        </p:nvSpPr>
        <p:spPr>
          <a:xfrm>
            <a:off x="914400" y="3200400"/>
            <a:ext cx="3474720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Redis atomic check-and-decrement (Lua script)</a:t>
            </a:r>
            <a:endParaRPr lang="en-US" sz="1400" dirty="0"/>
          </a:p>
        </p:txBody>
      </p:sp>
      <p:sp>
        <p:nvSpPr>
          <p:cNvPr id="8" name="Funnel arrow 3"/>
          <p:cNvSpPr/>
          <p:nvPr/>
        </p:nvSpPr>
        <p:spPr>
          <a:xfrm>
            <a:off x="2651760" y="38862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unnel 4"/>
          <p:cNvSpPr txBox="1"/>
          <p:nvPr/>
        </p:nvSpPr>
        <p:spPr>
          <a:xfrm>
            <a:off x="1097280" y="4114800"/>
            <a:ext cx="3108960" cy="685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100 reservations written to DB (TTL 5 min)</a:t>
            </a:r>
            <a:endParaRPr lang="en-US" sz="1400" dirty="0"/>
          </a:p>
        </p:txBody>
      </p:sp>
      <p:graphicFrame>
        <p:nvGraphicFramePr>
          <p:cNvPr id="5" name="Concurrency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71600"/>
          <a:ext cx="6519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2039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Strength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Weakness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Pessimistic row lock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Simple, always correct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10,000 requests queue on one row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Optimistic version check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locks held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Heavy retries on one hot item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Redis atomic gate + DB conditional update (chosen)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Fast reject in memory; DB stays source of truth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Two stores to reconcile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Why this works"/>
          <p:cNvSpPr txBox="1"/>
          <p:nvPr/>
        </p:nvSpPr>
        <p:spPr>
          <a:xfrm>
            <a:off x="5120640" y="4434840"/>
            <a:ext cx="6519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Only about 100 requests ever reach the DB write. The other 9,900 get an instant “sold out” at memory speed. The DB update (available &gt; 0) is the final guard.</a:t>
            </a:r>
            <a:endParaRPr lang="en-US" sz="1500" dirty="0"/>
          </a:p>
        </p:txBody>
      </p:sp>
      <p:sp>
        <p:nvSpPr>
          <p:cNvPr id="12" name="State AVAILABLE"/>
          <p:cNvSpPr txBox="1"/>
          <p:nvPr/>
        </p:nvSpPr>
        <p:spPr>
          <a:xfrm>
            <a:off x="548640" y="5166360"/>
            <a:ext cx="182880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AVAILABLE</a:t>
            </a:r>
            <a:endParaRPr lang="en-US" sz="1400" dirty="0"/>
          </a:p>
        </p:txBody>
      </p:sp>
      <p:sp>
        <p:nvSpPr>
          <p:cNvPr id="13" name="State arrow 1"/>
          <p:cNvSpPr/>
          <p:nvPr/>
        </p:nvSpPr>
        <p:spPr>
          <a:xfrm>
            <a:off x="2377440" y="546354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tate RESERVED"/>
          <p:cNvSpPr txBox="1"/>
          <p:nvPr/>
        </p:nvSpPr>
        <p:spPr>
          <a:xfrm>
            <a:off x="2834640" y="5166360"/>
            <a:ext cx="182880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RESERVED</a:t>
            </a:r>
            <a:endParaRPr lang="en-US" sz="1400" dirty="0"/>
          </a:p>
        </p:txBody>
      </p:sp>
      <p:sp>
        <p:nvSpPr>
          <p:cNvPr id="15" name="State arrow 2"/>
          <p:cNvSpPr/>
          <p:nvPr/>
        </p:nvSpPr>
        <p:spPr>
          <a:xfrm>
            <a:off x="4663440" y="546354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tate PAYMENT PENDING"/>
          <p:cNvSpPr txBox="1"/>
          <p:nvPr/>
        </p:nvSpPr>
        <p:spPr>
          <a:xfrm>
            <a:off x="5120640" y="5166360"/>
            <a:ext cx="182880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 PENDING</a:t>
            </a:r>
            <a:endParaRPr lang="en-US" sz="1400" dirty="0"/>
          </a:p>
        </p:txBody>
      </p:sp>
      <p:sp>
        <p:nvSpPr>
          <p:cNvPr id="17" name="State arrow 3"/>
          <p:cNvSpPr/>
          <p:nvPr/>
        </p:nvSpPr>
        <p:spPr>
          <a:xfrm>
            <a:off x="6949440" y="546354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tate CONFIRMED"/>
          <p:cNvSpPr txBox="1"/>
          <p:nvPr/>
        </p:nvSpPr>
        <p:spPr>
          <a:xfrm>
            <a:off x="7406640" y="5166360"/>
            <a:ext cx="182880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CONFIRMED</a:t>
            </a:r>
            <a:endParaRPr lang="en-US" sz="1400" dirty="0"/>
          </a:p>
        </p:txBody>
      </p:sp>
      <p:sp>
        <p:nvSpPr>
          <p:cNvPr id="19" name="State arrow 4"/>
          <p:cNvSpPr/>
          <p:nvPr/>
        </p:nvSpPr>
        <p:spPr>
          <a:xfrm>
            <a:off x="9235440" y="546354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State SOLD"/>
          <p:cNvSpPr txBox="1"/>
          <p:nvPr/>
        </p:nvSpPr>
        <p:spPr>
          <a:xfrm>
            <a:off x="9692640" y="5166360"/>
            <a:ext cx="182880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SOLD</a:t>
            </a:r>
            <a:endParaRPr lang="en-US" sz="1400" dirty="0"/>
          </a:p>
        </p:txBody>
      </p:sp>
      <p:sp>
        <p:nvSpPr>
          <p:cNvPr id="21" name="Failure paths"/>
          <p:cNvSpPr txBox="1"/>
          <p:nvPr/>
        </p:nvSpPr>
        <p:spPr>
          <a:xfrm>
            <a:off x="548640" y="5897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Failure paths: payment failed or timeout → RELEASED (stock returns to AVAILABLE; a sweeper job expires old reservations)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Payment and Order Reliability</a:t>
            </a:r>
            <a:endParaRPr lang="en-US" sz="3200" dirty="0"/>
          </a:p>
        </p:txBody>
      </p:sp>
      <p:sp>
        <p:nvSpPr>
          <p:cNvPr id="3" name="Order lifecycle label"/>
          <p:cNvSpPr txBox="1"/>
          <p:nvPr/>
        </p:nvSpPr>
        <p:spPr>
          <a:xfrm>
            <a:off x="54864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Order lifecycle</a:t>
            </a:r>
            <a:endParaRPr lang="en-US" sz="1600" dirty="0"/>
          </a:p>
        </p:txBody>
      </p:sp>
      <p:sp>
        <p:nvSpPr>
          <p:cNvPr id="4" name="Order CREATED"/>
          <p:cNvSpPr txBox="1"/>
          <p:nvPr/>
        </p:nvSpPr>
        <p:spPr>
          <a:xfrm>
            <a:off x="548640" y="1691640"/>
            <a:ext cx="1371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CREATED</a:t>
            </a:r>
            <a:endParaRPr lang="en-US" sz="1300" dirty="0"/>
          </a:p>
        </p:txBody>
      </p:sp>
      <p:sp>
        <p:nvSpPr>
          <p:cNvPr id="5" name="Order arrow 1"/>
          <p:cNvSpPr/>
          <p:nvPr/>
        </p:nvSpPr>
        <p:spPr>
          <a:xfrm>
            <a:off x="1920240" y="2057400"/>
            <a:ext cx="2484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Order PAYMENT PENDING"/>
          <p:cNvSpPr txBox="1"/>
          <p:nvPr/>
        </p:nvSpPr>
        <p:spPr>
          <a:xfrm>
            <a:off x="2168652" y="1691640"/>
            <a:ext cx="1371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PENDING</a:t>
            </a:r>
            <a:endParaRPr lang="en-US" sz="1300" dirty="0"/>
          </a:p>
        </p:txBody>
      </p:sp>
      <p:sp>
        <p:nvSpPr>
          <p:cNvPr id="7" name="Order arrow 2"/>
          <p:cNvSpPr/>
          <p:nvPr/>
        </p:nvSpPr>
        <p:spPr>
          <a:xfrm>
            <a:off x="3540252" y="2057400"/>
            <a:ext cx="2484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Order CONFIRMED"/>
          <p:cNvSpPr txBox="1"/>
          <p:nvPr/>
        </p:nvSpPr>
        <p:spPr>
          <a:xfrm>
            <a:off x="3788664" y="1691640"/>
            <a:ext cx="1371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CONFIRMED</a:t>
            </a:r>
            <a:endParaRPr lang="en-US" sz="1300" dirty="0"/>
          </a:p>
        </p:txBody>
      </p:sp>
      <p:sp>
        <p:nvSpPr>
          <p:cNvPr id="9" name="Order arrow 3"/>
          <p:cNvSpPr/>
          <p:nvPr/>
        </p:nvSpPr>
        <p:spPr>
          <a:xfrm>
            <a:off x="5160264" y="2057400"/>
            <a:ext cx="2484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Order PROCESSING"/>
          <p:cNvSpPr txBox="1"/>
          <p:nvPr/>
        </p:nvSpPr>
        <p:spPr>
          <a:xfrm>
            <a:off x="5408676" y="1691640"/>
            <a:ext cx="1371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PROCESSING</a:t>
            </a:r>
            <a:endParaRPr lang="en-US" sz="1300" dirty="0"/>
          </a:p>
        </p:txBody>
      </p:sp>
      <p:sp>
        <p:nvSpPr>
          <p:cNvPr id="11" name="Order arrow 4"/>
          <p:cNvSpPr/>
          <p:nvPr/>
        </p:nvSpPr>
        <p:spPr>
          <a:xfrm>
            <a:off x="6780276" y="2057400"/>
            <a:ext cx="2484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Order SHIPPED"/>
          <p:cNvSpPr txBox="1"/>
          <p:nvPr/>
        </p:nvSpPr>
        <p:spPr>
          <a:xfrm>
            <a:off x="7028688" y="1691640"/>
            <a:ext cx="1371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SHIPPED</a:t>
            </a:r>
            <a:endParaRPr lang="en-US" sz="1300" dirty="0"/>
          </a:p>
        </p:txBody>
      </p:sp>
      <p:sp>
        <p:nvSpPr>
          <p:cNvPr id="13" name="Order arrow 5"/>
          <p:cNvSpPr/>
          <p:nvPr/>
        </p:nvSpPr>
        <p:spPr>
          <a:xfrm>
            <a:off x="8400288" y="2057400"/>
            <a:ext cx="2484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Order OUT FOR DELIVERY"/>
          <p:cNvSpPr txBox="1"/>
          <p:nvPr/>
        </p:nvSpPr>
        <p:spPr>
          <a:xfrm>
            <a:off x="8648700" y="1691640"/>
            <a:ext cx="1371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OUT FOR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DELIVERY</a:t>
            </a:r>
            <a:endParaRPr lang="en-US" sz="1300" dirty="0"/>
          </a:p>
        </p:txBody>
      </p:sp>
      <p:sp>
        <p:nvSpPr>
          <p:cNvPr id="15" name="Order arrow 6"/>
          <p:cNvSpPr/>
          <p:nvPr/>
        </p:nvSpPr>
        <p:spPr>
          <a:xfrm>
            <a:off x="10020300" y="2057400"/>
            <a:ext cx="2484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Order DELIVERED"/>
          <p:cNvSpPr txBox="1"/>
          <p:nvPr/>
        </p:nvSpPr>
        <p:spPr>
          <a:xfrm>
            <a:off x="10268712" y="1691640"/>
            <a:ext cx="137160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DELIVERED</a:t>
            </a:r>
            <a:endParaRPr lang="en-US" sz="1300" dirty="0"/>
          </a:p>
        </p:txBody>
      </p:sp>
      <p:graphicFrame>
        <p:nvGraphicFramePr>
          <p:cNvPr id="6" name="Payment scenari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Design response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Payment succeeds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Confirm payment, publish PaymentSucceeded, create order, mark reservation SOLD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Payment fails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Release reservation (stock returns), cancel order, notify customer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Payment times out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Stay PAYMENT PENDING; retry with same key and reconcile with the gateway; circuit breaker on repeated errors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Duplicate request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Same idempotency key returns the stored result; unique transaction reference in DB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Paid, Order Service down 30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Event waits in Kafka (outbox), retries with backoff, dead-letter queue; refund if unrecoverable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LLD, Scalability, Trade-offs and AI Use</a:t>
            </a:r>
            <a:endParaRPr lang="en-US" sz="3200" dirty="0"/>
          </a:p>
        </p:txBody>
      </p:sp>
      <p:sp>
        <p:nvSpPr>
          <p:cNvPr id="3" name="LLD card"/>
          <p:cNvSpPr txBox="1"/>
          <p:nvPr/>
        </p:nvSpPr>
        <p:spPr>
          <a:xfrm>
            <a:off x="548640" y="1325880"/>
            <a:ext cx="5440680" cy="2286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LLD, SOLID and patterns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Strategy: pricing and payment selection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Factory + Adapter: new provider = new class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State: order and reservation lifecycle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Observer: order events trigger notifications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Facade, Repository, Circuit Breaker</a:t>
            </a:r>
            <a:endParaRPr lang="en-US" sz="1600" dirty="0"/>
          </a:p>
        </p:txBody>
      </p:sp>
      <p:sp>
        <p:nvSpPr>
          <p:cNvPr id="4" name="Scale card"/>
          <p:cNvSpPr txBox="1"/>
          <p:nvPr/>
        </p:nvSpPr>
        <p:spPr>
          <a:xfrm>
            <a:off x="6199632" y="1325880"/>
            <a:ext cx="5440680" cy="2286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Scaling to 50x traffic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CDN serves the static sale page; WAF blocks bots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Waiting-room queue admits users in batches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Stateless services autoscale; Redis sharded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DB writes only for ~100 winners; reads on replicas</a:t>
            </a:r>
            <a:endParaRPr lang="en-US" sz="1600" dirty="0"/>
          </a:p>
        </p:txBody>
      </p:sp>
      <p:sp>
        <p:nvSpPr>
          <p:cNvPr id="5" name="Reliability card"/>
          <p:cNvSpPr txBox="1"/>
          <p:nvPr/>
        </p:nvSpPr>
        <p:spPr>
          <a:xfrm>
            <a:off x="548640" y="3794760"/>
            <a:ext cx="5440680" cy="2286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Reliability, security, monitoring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Outbox, idempotent consumers, dead-letter queue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DB failover; gateway retry + circuit breaker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JWT auth, TLS, rate limits, no card data stored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Alerts: stock mismatch, payment failures, queue lag</a:t>
            </a:r>
            <a:endParaRPr lang="en-US" sz="1600" dirty="0"/>
          </a:p>
        </p:txBody>
      </p:sp>
      <p:sp>
        <p:nvSpPr>
          <p:cNvPr id="6" name="Trade-off card"/>
          <p:cNvSpPr txBox="1"/>
          <p:nvPr/>
        </p:nvSpPr>
        <p:spPr>
          <a:xfrm>
            <a:off x="6199632" y="3794760"/>
            <a:ext cx="5440680" cy="2286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Trade-offs and AI use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Redis + DB need reconciliation (more complexity)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Orders and alerts are eventually consistent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Stock can reopen when reservations expire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used for Locust simulation and UML drafts; team verified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torm">
  <a:themeElements>
    <a:clrScheme name="Salestorm">
      <a:dk1>
        <a:srgbClr val="222222"/>
      </a:dk1>
      <a:lt1>
        <a:srgbClr val="FFFFFF"/>
      </a:lt1>
      <a:dk2>
        <a:srgbClr val="1F3864"/>
      </a:dk2>
      <a:lt2>
        <a:srgbClr val="E9EEF6"/>
      </a:lt2>
      <a:accent1>
        <a:srgbClr val="2E5597"/>
      </a:accent1>
      <a:accent2>
        <a:srgbClr val="C55A11"/>
      </a:accent2>
      <a:accent3>
        <a:srgbClr val="548235"/>
      </a:accent3>
      <a:accent4>
        <a:srgbClr val="C00000"/>
      </a:accent4>
      <a:accent5>
        <a:srgbClr val="7F7F7F"/>
      </a:accent5>
      <a:accent6>
        <a:srgbClr val="BF9000"/>
      </a:accent6>
      <a:hlink>
        <a:srgbClr val="2E5597"/>
      </a:hlink>
      <a:folHlink>
        <a:srgbClr val="7F7F7F"/>
      </a:folHlink>
    </a:clrScheme>
    <a:fontScheme name="Salestor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SALESTORM - Flash Sale System Design</dc:title>
  <dc:subject>PptxGenJS Presentation</dc:subject>
  <dc:creator>PptxGenJS</dc:creator>
  <cp:lastModifiedBy>PptxGenJS</cp:lastModifiedBy>
  <cp:revision>1</cp:revision>
  <dcterms:created xsi:type="dcterms:W3CDTF">2026-10-09T13:56:00Z</dcterms:created>
  <dcterms:modified xsi:type="dcterms:W3CDTF">2026-10-09T13:56:00Z</dcterms:modified>
</cp:coreProperties>
</file>